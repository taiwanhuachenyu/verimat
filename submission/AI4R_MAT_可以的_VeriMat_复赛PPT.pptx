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4E79"/>
                </a:solidFill>
              </a:defRPr>
            </a:pPr>
            <a:r>
              <a:t>VeriMat：证据与反证驱动的可验证材料科学发现智能体</a:t>
            </a:r>
          </a:p>
          <a:p>
            <a:pPr>
              <a:defRPr sz="2000"/>
            </a:pPr>
            <a:r>
              <a:t>GOAI 2026 · 赛道三 AI for Research · 算法赛题 · 材料科学方向 · 复赛</a:t>
            </a:r>
          </a:p>
          <a:p>
            <a:pPr>
              <a:defRPr sz="1800"/>
            </a:pPr>
            <a:r>
              <a:t>团队：可以的 ｜ 盛夏 · 归一珂 · 朱怡邈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科学问题：材料文献调研为什么不可信、不可核验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构效结论散落数十年文献：组成、工艺、测试条件、表征尺度彼此错位</a:t>
            </a:r>
          </a:p>
          <a:p>
            <a:pPr>
              <a:spcAft>
                <a:spcPts val="1000"/>
              </a:spcAft>
              <a:defRPr sz="1800"/>
            </a:pPr>
            <a:r>
              <a:t>■ 只检索支持性文献 → 系统性高估结论、漏掉反例与失效条件、高估新颖性</a:t>
            </a:r>
          </a:p>
          <a:p>
            <a:pPr>
              <a:spcAft>
                <a:spcPts val="1000"/>
              </a:spcAft>
              <a:defRPr sz="1800"/>
            </a:pPr>
            <a:r>
              <a:t>■ 大赛要的不是"会读文献"，而是可证伪的科学主张 + 可追溯的证据链</a:t>
            </a:r>
          </a:p>
          <a:p>
            <a:pPr>
              <a:spcAft>
                <a:spcPts val="1000"/>
              </a:spcAft>
              <a:defRPr sz="1800"/>
            </a:pPr>
            <a:r>
              <a:t>■ 我们的回答：把文献调研变成 主张的状态估计 问题</a:t>
            </a:r>
          </a:p>
          <a:p>
            <a:pPr>
              <a:spcAft>
                <a:spcPts val="1000"/>
              </a:spcAft>
              <a:defRPr sz="1600"/>
            </a:pPr>
            <a:r>
              <a:t>– 每个候选关系 = 适用边界 + 支持证据 + 反证证据 + 确定性验证状态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方法：生成式提议 + 确定性裁决（核心设计）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LLM 只做两件事：提出候选、做出局部判断</a:t>
            </a:r>
          </a:p>
          <a:p>
            <a:pPr>
              <a:spcAft>
                <a:spcPts val="1000"/>
              </a:spcAft>
              <a:defRPr sz="1800"/>
            </a:pPr>
            <a:r>
              <a:t>■ 证据定位、时间截断、状态转换、预算、终态 = 确定性程序</a:t>
            </a:r>
          </a:p>
          <a:p>
            <a:pPr>
              <a:spcAft>
                <a:spcPts val="1000"/>
              </a:spcAft>
              <a:defRPr sz="1800"/>
            </a:pPr>
            <a:r>
              <a:t>■ CEDG 状态机：SURVIVED / NARROWED / REFUTED / UNRESOLVED</a:t>
            </a:r>
          </a:p>
          <a:p>
            <a:pPr>
              <a:spcAft>
                <a:spcPts val="1000"/>
              </a:spcAft>
              <a:defRPr sz="1800"/>
            </a:pPr>
            <a:r>
              <a:t>■ 三道硬门：引文逐字门、数值回放门、封闭词表门——不过即拒绝留档</a:t>
            </a:r>
          </a:p>
          <a:p>
            <a:pPr>
              <a:spcAft>
                <a:spcPts val="1000"/>
              </a:spcAft>
              <a:defRPr sz="1600"/>
            </a:pPr>
            <a:r>
              <a:t>– 反证感知 Pareto-MCTS：七维目标 + 精确非支配档案，先验只影响搜索不影响验收</a:t>
            </a:r>
          </a:p>
          <a:p>
            <a:pPr>
              <a:spcAft>
                <a:spcPts val="1000"/>
              </a:spcAft>
              <a:defRPr sz="1600"/>
            </a:pPr>
            <a:r>
              <a:t>– 哈希链事件账本 + 操作缓存：每次模型调用幂等、可回放、可审计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全自动评测：时间截断文献预言机（无人工复核）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发现窗 2000–2021 语料 → 系统输出主张；验证窗 2022–2025 文献 → 自动真值</a:t>
            </a:r>
          </a:p>
          <a:p>
            <a:pPr>
              <a:spcAft>
                <a:spcPts val="1000"/>
              </a:spcAft>
              <a:defRPr sz="1600"/>
            </a:pPr>
            <a:r>
              <a:t>– 4 条预注册查询模板/主张：矛盾、失效、支持、适用边界</a:t>
            </a:r>
          </a:p>
          <a:p>
            <a:pPr>
              <a:spcAft>
                <a:spcPts val="1000"/>
              </a:spcAft>
              <a:defRPr sz="1600"/>
            </a:pPr>
            <a:r>
              <a:t>– 引文门：裁定必须逐字引用被检文献，否则作废留档</a:t>
            </a:r>
          </a:p>
          <a:p>
            <a:pPr>
              <a:spcAft>
                <a:spcPts val="1000"/>
              </a:spcAft>
              <a:defRPr sz="1600"/>
            </a:pPr>
            <a:r>
              <a:t>– 确定性聚合：矛盾 &gt; 收窄 &gt; 支持 &gt; 未决</a:t>
            </a:r>
          </a:p>
          <a:p>
            <a:pPr>
              <a:spcAft>
                <a:spcPts val="1000"/>
              </a:spcAft>
              <a:defRPr sz="1800"/>
            </a:pPr>
            <a:r>
              <a:t>■ 方法侧检索硬截断 2021 —— 不可能偷看未来得分</a:t>
            </a:r>
          </a:p>
          <a:p>
            <a:pPr>
              <a:spcAft>
                <a:spcPts val="1000"/>
              </a:spcAft>
              <a:defRPr sz="1800"/>
            </a:pPr>
            <a:r>
              <a:t>■ 指标：决策准确率 / 反证召回 / 过度宣称 / false-gap rate / 回放精度 / Brier / 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结果①：六方法消融（258 主张，统一快照/预算/种子）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V0 vanilla-RAG：准确率 0.147 = supported 先验占比——盲接受零信息</a:t>
            </a:r>
          </a:p>
          <a:p>
            <a:pPr>
              <a:spcAft>
                <a:spcPts val="1000"/>
              </a:spcAft>
              <a:defRPr sz="1800"/>
            </a:pPr>
            <a:r>
              <a:t>■ V1 双向检索：0.159——把反证摆到模型面前不改变行为</a:t>
            </a:r>
          </a:p>
          <a:p>
            <a:pPr>
              <a:spcAft>
                <a:spcPts val="1000"/>
              </a:spcAft>
              <a:defRPr sz="1800"/>
            </a:pPr>
            <a:r>
              <a:t>■ V2 +CEDG 状态机：0.483，反证召回 0.39，过度宣称 4.3%</a:t>
            </a:r>
          </a:p>
          <a:p>
            <a:pPr>
              <a:spcAft>
                <a:spcPts val="1000"/>
              </a:spcAft>
              <a:defRPr sz="1800"/>
            </a:pPr>
            <a:r>
              <a:t>■ V3 全量：0.461；A1 无MCTS 0.461；A2 无DB 0.448</a:t>
            </a:r>
          </a:p>
          <a:p>
            <a:pPr>
              <a:spcAft>
                <a:spcPts val="1000"/>
              </a:spcAft>
              <a:defRPr sz="1800"/>
            </a:pPr>
            <a:r>
              <a:t>■ 全部方法回放精度 1.0；全部低于 3M token 预算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结果②：统计显著性与诚实负结果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V2 vs V1：+0.324，Holm p = 0.0003 ✅</a:t>
            </a:r>
          </a:p>
          <a:p>
            <a:pPr>
              <a:spcAft>
                <a:spcPts val="1000"/>
              </a:spcAft>
              <a:defRPr sz="1800"/>
            </a:pPr>
            <a:r>
              <a:t>■ V3 vs V0：+0.314，Holm p = 0.0003 ✅；V3 vs V1：+0.302 ✅</a:t>
            </a:r>
          </a:p>
          <a:p>
            <a:pPr>
              <a:spcAft>
                <a:spcPts val="1000"/>
              </a:spcAft>
              <a:defRPr sz="1800"/>
            </a:pPr>
            <a:r>
              <a:t>■ MCTS 边际：Δ=0.00，p=1.0 ❌；DB 校验：Δ=+0.014，p=0.63 ❌</a:t>
            </a:r>
          </a:p>
          <a:p>
            <a:pPr>
              <a:spcAft>
                <a:spcPts val="1000"/>
              </a:spcAft>
              <a:defRPr sz="1800"/>
            </a:pPr>
            <a:r>
              <a:t>■ 负结果 = 负结果：状态机承重、搜索/数据库在本规模不增益，全部数据公开</a:t>
            </a:r>
          </a:p>
          <a:p>
            <a:pPr>
              <a:spcAft>
                <a:spcPts val="1000"/>
              </a:spcAft>
              <a:defRPr sz="1800"/>
            </a:pPr>
            <a:r>
              <a:t>■ 两轮实验（v1 120 主张开发、v2 258 主张确证）方向完全一致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结果③：Gap 新颖性与发现包（大赛核心交付）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13 个 Research Gap（5 类规则：矛盾/单源/缺条件/未验证机制/未探索组合）</a:t>
            </a:r>
          </a:p>
          <a:p>
            <a:pPr>
              <a:spcAft>
                <a:spcPts val="1000"/>
              </a:spcAft>
              <a:defRPr sz="1800"/>
            </a:pPr>
            <a:r>
              <a:t>■ 验证窗自动新颖性裁定：already-known false-gap rate = 0.167</a:t>
            </a:r>
          </a:p>
          <a:p>
            <a:pPr>
              <a:spcAft>
                <a:spcPts val="1000"/>
              </a:spcAft>
              <a:defRPr sz="1800"/>
            </a:pPr>
            <a:r>
              <a:t>■ 44 个发现包：可证伪陈述 + 适用边界 + 哈希证据 + 反证考量 + 最小验证实验</a:t>
            </a:r>
          </a:p>
          <a:p>
            <a:pPr>
              <a:spcAft>
                <a:spcPts val="1000"/>
              </a:spcAft>
              <a:defRPr sz="1800"/>
            </a:pPr>
            <a:r>
              <a:t>■ 54 个不合格包被证据门拒绝留档——不合规的说法根本出不了系统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工程架构：可审计是架构性质，不是承诺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哈希链事件账本：篡改/删除/重复/重排可检测</a:t>
            </a:r>
          </a:p>
          <a:p>
            <a:pPr>
              <a:spcAft>
                <a:spcPts val="1000"/>
              </a:spcAft>
              <a:defRPr sz="1800"/>
            </a:pPr>
            <a:r>
              <a:t>■ 操作缓存内容寻址：断点续跑零重复计费，跨模型路由共享</a:t>
            </a:r>
          </a:p>
          <a:p>
            <a:pPr>
              <a:spcAft>
                <a:spcPts val="1000"/>
              </a:spcAft>
              <a:defRPr sz="1800"/>
            </a:pPr>
            <a:r>
              <a:t>■ BudgetedTransport：token 硬预算在传输层强制</a:t>
            </a:r>
          </a:p>
          <a:p>
            <a:pPr>
              <a:spcAft>
                <a:spcPts val="1000"/>
              </a:spcAft>
              <a:defRPr sz="1800"/>
            </a:pPr>
            <a:r>
              <a:t>■ supervisor 自愈：挂起/限流/模型错误自动对账重试</a:t>
            </a:r>
          </a:p>
          <a:p>
            <a:pPr>
              <a:spcAft>
                <a:spcPts val="1000"/>
              </a:spcAft>
              <a:defRPr sz="1800"/>
            </a:pPr>
            <a:r>
              <a:t>■ 跨平台实证：Windows(Claude Code/Opus5) 与 Linux(opencode/GLM-5.3-Flash) 同协议</a:t>
            </a:r>
          </a:p>
          <a:p>
            <a:pPr>
              <a:spcAft>
                <a:spcPts val="1000"/>
              </a:spcAft>
              <a:defRPr sz="1800"/>
            </a:pPr>
            <a:r>
              <a:t>■ 430+ 自动化测试；架构纪律（平台原语隔离）由依赖面测试强制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复现：一键、幂等、可核验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bash scripts/smoke_test.sh —— 离线、无 key、1 分钟</a:t>
            </a:r>
          </a:p>
          <a:p>
            <a:pPr>
              <a:spcAft>
                <a:spcPts val="1000"/>
              </a:spcAft>
              <a:defRPr sz="1800"/>
            </a:pPr>
            <a:r>
              <a:t>■ bash scripts/reproduce_core.sh —— 从密封快照重建全部结果</a:t>
            </a:r>
          </a:p>
          <a:p>
            <a:pPr>
              <a:spcAft>
                <a:spcPts val="1000"/>
              </a:spcAft>
              <a:defRPr sz="1800"/>
            </a:pPr>
            <a:r>
              <a:t>■ Prompt 逐字披露：docs/PROMPTS.md（8 类调用）</a:t>
            </a:r>
          </a:p>
          <a:p>
            <a:pPr>
              <a:spcAft>
                <a:spcPts val="1000"/>
              </a:spcAft>
              <a:defRPr sz="1800"/>
            </a:pPr>
            <a:r>
              <a:t>■ 证据链：claims → relations → corpus_snapshot 逐级哈希定位</a:t>
            </a:r>
          </a:p>
          <a:p>
            <a:pPr>
              <a:spcAft>
                <a:spcPts val="1000"/>
              </a:spcAft>
              <a:defRPr sz="1800"/>
            </a:pPr>
            <a:r>
              <a:t>■ Agent 轨迹：运行阶段 10,063 sessions 全量随包提交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局限与后续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■ oracle 依赖模型判定：有逐字引文门 + 全文明细公开，可独立抽查</a:t>
            </a:r>
          </a:p>
          <a:p>
            <a:pPr>
              <a:spcAft>
                <a:spcPts val="1000"/>
              </a:spcAft>
              <a:defRPr sz="1800"/>
            </a:pPr>
            <a:r>
              <a:t>■ 46% 主张真值 unresolved：任务现实，配对统计不受影响</a:t>
            </a:r>
          </a:p>
          <a:p>
            <a:pPr>
              <a:spcAft>
                <a:spcPts val="1000"/>
              </a:spcAft>
              <a:defRPr sz="1800"/>
            </a:pPr>
            <a:r>
              <a:t>■ MCTS/DB 增益不能外推到更大规模——已列入后续预注册</a:t>
            </a:r>
          </a:p>
          <a:p>
            <a:pPr>
              <a:spcAft>
                <a:spcPts val="1000"/>
              </a:spcAft>
              <a:defRPr sz="1800"/>
            </a:pPr>
            <a:r>
              <a:t>■ 后续：跨材料域泛化、置信校准、更大语料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开源与总结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■ github.com/taiwanhuachenyu/VeriMat ｜ MIT License ｜ 提交对应 tag</a:t>
            </a:r>
          </a:p>
          <a:p>
            <a:pPr>
              <a:spcAft>
                <a:spcPts val="1000"/>
              </a:spcAft>
              <a:defRPr sz="2000"/>
            </a:pPr>
            <a:r>
              <a:t>■ 一句话：让 AI 的每一个科学主张，都带着能推翻它的证据和可执行的检验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