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737360"/>
            <a:ext cx="1069848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1F4E79"/>
                </a:solidFill>
              </a:defRPr>
            </a:pPr>
            <a:r>
              <a:t>VeriMat</a:t>
            </a:r>
          </a:p>
          <a:p>
            <a:pPr>
              <a:defRPr sz="2600" b="1"/>
            </a:pPr>
            <a:r>
              <a:t>证据与反证驱动的可验证材料科学发现智能体</a:t>
            </a:r>
          </a:p>
          <a:p>
            <a:pPr>
              <a:defRPr sz="1600">
                <a:solidFill>
                  <a:srgbClr val="555555"/>
                </a:solidFill>
              </a:defRPr>
            </a:pPr>
            <a:r>
              <a:t>LLM 提议 · 程序裁决 · 每条主张可证伪 · 每条证据可回放到字节</a:t>
            </a:r>
          </a:p>
          <a:p>
            <a:pPr>
              <a:defRPr sz="1600">
                <a:solidFill>
                  <a:srgbClr val="555555"/>
                </a:solidFill>
              </a:defRPr>
            </a:pPr>
            <a:r>
              <a:t>15,500+ 行系统代码 ｜ 5,600+ 行测试 ｜ 439 项测试全绿 ｜ 3 OS × 3 Python CI ｜ 跨平台字节一致</a:t>
            </a:r>
          </a:p>
          <a:p>
            <a:pPr>
              <a:defRPr sz="1600">
                <a:solidFill>
                  <a:srgbClr val="555555"/>
                </a:solidFill>
              </a:defRPr>
            </a:pPr>
            <a:r>
              <a:t>GOAI 2026 赛道三 · 算法赛题 · 材料科学方向 · 复赛 ｜ 团队：可以的（盛夏 · 归一珂 · 朱怡邈）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一、科学问题：文献调研的三重失真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/>
            </a:pPr>
            <a:r>
              <a:t>▸ 条件失真：同一"高稳定性"分属热力学/电化学/湿气/循环稳定，不做条件对齐就是外推造假</a:t>
            </a:r>
          </a:p>
          <a:p>
            <a:pPr>
              <a:spcAft>
                <a:spcPts val="800"/>
              </a:spcAft>
              <a:defRPr sz="1700"/>
            </a:pPr>
            <a:r>
              <a:t>▸ 证实偏差：只检索支持文献 → 反例、失效条件、适用边界全部丢失</a:t>
            </a:r>
          </a:p>
          <a:p>
            <a:pPr>
              <a:spcAft>
                <a:spcPts val="800"/>
              </a:spcAft>
              <a:defRPr sz="1700"/>
            </a:pPr>
            <a:r>
              <a:t>▸ 新颖性失真：把教科书事实当发现——没有机制能检验"这个 gap 是不是早就被解决了"</a:t>
            </a:r>
          </a:p>
          <a:p>
            <a:pPr>
              <a:spcAft>
                <a:spcPts val="800"/>
              </a:spcAft>
              <a:defRPr sz="1700"/>
            </a:pPr>
            <a:r>
              <a:t>▸ 现有 RAG 式文献 agent 的通病：检索到的≠成立的，模型说的≠可核验的</a:t>
            </a:r>
          </a:p>
          <a:p>
            <a:pPr>
              <a:spcAft>
                <a:spcPts val="800"/>
              </a:spcAft>
              <a:defRPr sz="1700" b="1">
                <a:solidFill>
                  <a:srgbClr val="C0392B"/>
                </a:solidFill>
              </a:defRPr>
            </a:pPr>
            <a:r>
              <a:t>▸ ★ 大赛真正要的：能产出可证伪主张、且每一步可检查可复现的智能体系统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二、核心设计：把调研变成主张的状态估计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/>
            </a:pPr>
            <a:r>
              <a:t>▸ LLM 的职权被刻意限缩：只提议候选关系、只做局部判断</a:t>
            </a:r>
          </a:p>
          <a:p>
            <a:pPr>
              <a:spcAft>
                <a:spcPts val="800"/>
              </a:spcAft>
              <a:defRPr sz="1700" b="1">
                <a:solidFill>
                  <a:srgbClr val="C0392B"/>
                </a:solidFill>
              </a:defRPr>
            </a:pPr>
            <a:r>
              <a:t>▸ ★ 一切有后果的裁决都是确定性程序：证据定位、时间截断、状态转换、预算、终态</a:t>
            </a:r>
          </a:p>
          <a:p>
            <a:pPr>
              <a:spcAft>
                <a:spcPts val="800"/>
              </a:spcAft>
              <a:defRPr sz="1700"/>
            </a:pPr>
            <a:r>
              <a:t>▸ CEDG 主张-证据决策图：SURVIVED / NARROWED / REFUTED / UNRESOLVED</a:t>
            </a:r>
          </a:p>
          <a:p>
            <a:pPr>
              <a:spcAft>
                <a:spcPts val="800"/>
              </a:spcAft>
              <a:defRPr sz="1500"/>
            </a:pPr>
            <a:r>
              <a:t>· 充分条件制：反证检索已执行且无反例才准 SURVIVED；模型置信度只存档、不参与终态</a:t>
            </a:r>
          </a:p>
          <a:p>
            <a:pPr>
              <a:spcAft>
                <a:spcPts val="800"/>
              </a:spcAft>
              <a:defRPr sz="1700"/>
            </a:pPr>
            <a:r>
              <a:t>▸ 三道硬门在准入前拒绝：引文逐字门（规范化子串）、数值回放门（数必须在引文里）、封闭词表门</a:t>
            </a:r>
          </a:p>
          <a:p>
            <a:pPr>
              <a:spcAft>
                <a:spcPts val="800"/>
              </a:spcAft>
              <a:defRPr sz="1700"/>
            </a:pPr>
            <a:r>
              <a:t>▸ 通不过=拒绝并留档，而非静默丢弃：本 run 190 提案拒绝 50、54 个发现包被拒，全部可查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三、算法：反证感知 Pareto-MCTS 与延迟信用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/>
            </a:pPr>
            <a:r>
              <a:t>▸ 搜索空间：条件化假设（加描述符/收窄条件/跨族类比/反例查询/数据库验证）</a:t>
            </a:r>
          </a:p>
          <a:p>
            <a:pPr>
              <a:spcAft>
                <a:spcPts val="800"/>
              </a:spcAft>
              <a:defRPr sz="1500"/>
            </a:pPr>
            <a:r>
              <a:t>· 多目标 PUCT：7 维奖励（效用/证据/反证存活/数据库验证/可证伪/物理合法/简洁）预注册归一化</a:t>
            </a:r>
          </a:p>
          <a:p>
            <a:pPr>
              <a:spcAft>
                <a:spcPts val="800"/>
              </a:spcAft>
              <a:defRPr sz="1500"/>
            </a:pPr>
            <a:r>
              <a:t>· 树内用权重轮换标量化探索，档案用严格 Pareto 支配精确重算——先验不污染验收</a:t>
            </a:r>
          </a:p>
          <a:p>
            <a:pPr>
              <a:spcAft>
                <a:spcPts val="800"/>
              </a:spcAft>
              <a:defRPr sz="1500"/>
            </a:pPr>
            <a:r>
              <a:t>· 可行性合取约束：主张完整 ∧ 边界明确 ∧ 证据可定位 ∧ 反证已查 ∧ 物理检查声明</a:t>
            </a:r>
          </a:p>
          <a:p>
            <a:pPr>
              <a:spcAft>
                <a:spcPts val="800"/>
              </a:spcAft>
              <a:defRPr sz="1700"/>
            </a:pPr>
            <a:r>
              <a:t>▸ 延迟外部信用：策略更新绑定事务 outbox，按任务家族隔离，杜绝答案泄漏与自我强化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四、评测方法学：时间截断文献预言机（本工作方法学创新）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C0392B"/>
                </a:solidFill>
              </a:defRPr>
            </a:pPr>
            <a:r>
              <a:t>▸ ★ 全自动真值，零人工：验证窗文献就是 ground truth 的来源与裁决者</a:t>
            </a:r>
          </a:p>
          <a:p>
            <a:pPr>
              <a:spcAft>
                <a:spcPts val="800"/>
              </a:spcAft>
              <a:defRPr sz="1500"/>
            </a:pPr>
            <a:r>
              <a:t>· 每主张 4 条预注册模板检索验证窗（2022–2025）：矛盾/失效/支持/适用边界</a:t>
            </a:r>
          </a:p>
          <a:p>
            <a:pPr>
              <a:spcAft>
                <a:spcPts val="800"/>
              </a:spcAft>
              <a:defRPr sz="1500"/>
            </a:pPr>
            <a:r>
              <a:t>· 逐文献裁定 + 引文逐字门：quote 不命中原文 = 判定作废留档</a:t>
            </a:r>
          </a:p>
          <a:p>
            <a:pPr>
              <a:spcAft>
                <a:spcPts val="800"/>
              </a:spcAft>
              <a:defRPr sz="1500"/>
            </a:pPr>
            <a:r>
              <a:t>· 确定性聚合：contradicted &gt; narrowed &gt; supported &gt; unresolved</a:t>
            </a:r>
          </a:p>
          <a:p>
            <a:pPr>
              <a:spcAft>
                <a:spcPts val="800"/>
              </a:spcAft>
              <a:defRPr sz="1700"/>
            </a:pPr>
            <a:r>
              <a:t>▸ 方法侧检索硬截断 2021：结构上排除"偷看未来"，公平性由构造保证而非由承诺保证</a:t>
            </a:r>
          </a:p>
          <a:p>
            <a:pPr>
              <a:spcAft>
                <a:spcPts val="800"/>
              </a:spcAft>
              <a:defRPr sz="1700"/>
            </a:pPr>
            <a:r>
              <a:t>▸ 真值分布健康：17 supported / 17 contradicted / 31 narrowed / 55 unresolved（n=258）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五、结果①：六方法消融——状态机是承重墙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C0392B"/>
                </a:solidFill>
              </a:defRPr>
            </a:pPr>
            <a:r>
              <a:t>▸ ★ V0 vanilla-RAG 准确率 0.147 ≡ supported 先验占比：盲接受 = 零信息</a:t>
            </a:r>
          </a:p>
          <a:p>
            <a:pPr>
              <a:spcAft>
                <a:spcPts val="800"/>
              </a:spcAft>
              <a:defRPr sz="1700" b="1">
                <a:solidFill>
                  <a:srgbClr val="C0392B"/>
                </a:solidFill>
              </a:defRPr>
            </a:pPr>
            <a:r>
              <a:t>▸ ★ V1 双向检索 0.159：把反证摆到模型面前，不改变模型的行为</a:t>
            </a:r>
          </a:p>
          <a:p>
            <a:pPr>
              <a:spcAft>
                <a:spcPts val="800"/>
              </a:spcAft>
              <a:defRPr sz="1700" b="1">
                <a:solidFill>
                  <a:srgbClr val="C0392B"/>
                </a:solidFill>
              </a:defRPr>
            </a:pPr>
            <a:r>
              <a:t>▸ ★ V2 = V1 + CEDG 状态机：0.483（+0.324，Holm p=0.0003）——增益全部来自确定性裁决</a:t>
            </a:r>
          </a:p>
          <a:p>
            <a:pPr>
              <a:spcAft>
                <a:spcPts val="800"/>
              </a:spcAft>
              <a:defRPr sz="1700"/>
            </a:pPr>
            <a:r>
              <a:t>▸ 反证召回 0 → 0.39；过度宣称 15.9% → 4.3%（−73%）</a:t>
            </a:r>
          </a:p>
          <a:p>
            <a:pPr>
              <a:spcAft>
                <a:spcPts val="800"/>
              </a:spcAft>
              <a:defRPr sz="1700"/>
            </a:pPr>
            <a:r>
              <a:t>▸ V3 全量 0.461 ≈ V2：MCTS/DB 在本规模无显著边际（诚实负结果，两轮一致）</a:t>
            </a:r>
          </a:p>
          <a:p>
            <a:pPr>
              <a:spcAft>
                <a:spcPts val="800"/>
              </a:spcAft>
              <a:defRPr sz="1700"/>
            </a:pPr>
            <a:r>
              <a:t>▸ 统一快照/统一检索缓存/统一预算/统一种子：差异全部归因于验证层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六、结果②：可核验性与成本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/>
            </a:pPr>
            <a:r>
              <a:t>▸ 证据回放精度：六方法全部 1.0——每条主张可定位到快照原文并哈希一致</a:t>
            </a:r>
          </a:p>
          <a:p>
            <a:pPr>
              <a:spcAft>
                <a:spcPts val="800"/>
              </a:spcAft>
              <a:defRPr sz="1700"/>
            </a:pPr>
            <a:r>
              <a:t>▸ already-known false-gap rate 0.167：系统宣称的"新颖"缺口可被自动检验</a:t>
            </a:r>
          </a:p>
          <a:p>
            <a:pPr>
              <a:spcAft>
                <a:spcPts val="800"/>
              </a:spcAft>
              <a:defRPr sz="1700" b="1">
                <a:solidFill>
                  <a:srgbClr val="C0392B"/>
                </a:solidFill>
              </a:defRPr>
            </a:pPr>
            <a:r>
              <a:t>▸ ★ 44 个发现包：可证伪陈述 + 适用边界 + 哈希证据 + 反证考量 + 最小验证实验</a:t>
            </a:r>
          </a:p>
          <a:p>
            <a:pPr>
              <a:spcAft>
                <a:spcPts val="800"/>
              </a:spcAft>
              <a:defRPr sz="1700"/>
            </a:pPr>
            <a:r>
              <a:t>▸ 54 个不合格包被拒绝留档——不合规的说法在系统内就不成立</a:t>
            </a:r>
          </a:p>
          <a:p>
            <a:pPr>
              <a:spcAft>
                <a:spcPts val="800"/>
              </a:spcAft>
              <a:defRPr sz="1700"/>
            </a:pPr>
            <a:r>
              <a:t>▸ 成本：六方法合计 1.28M tokens（智谱 coding plan 订阅额度内），单机 CPU</a:t>
            </a:r>
          </a:p>
          <a:p>
            <a:pPr>
              <a:spcAft>
                <a:spcPts val="800"/>
              </a:spcAft>
              <a:defRPr sz="1700"/>
            </a:pPr>
            <a:r>
              <a:t>▸ 复现语义：重跑 = 缓存回放，零重复计费；快照密封，评分离线秒级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七、工程架构①：可信执行底座（12 子系统 / 15.5K 行）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/>
            </a:pPr>
            <a:r>
              <a:t>▸ evidence：哈希链事件账本——追加即验指纹，篡改/删除/重复/重排全部可检测</a:t>
            </a:r>
          </a:p>
          <a:p>
            <a:pPr>
              <a:spcAft>
                <a:spcPts val="800"/>
              </a:spcAft>
              <a:defRPr sz="1600"/>
            </a:pPr>
            <a:r>
              <a:t>▸ orchestration：JobStore（幂等键/租约/检查点/乐观版本/硬预算）+ ArtifactStore（内容寻址/读取时重验哈希/租户隔离）</a:t>
            </a:r>
          </a:p>
          <a:p>
            <a:pPr>
              <a:spcAft>
                <a:spcPts val="800"/>
              </a:spcAft>
              <a:defRPr sz="1600"/>
            </a:pPr>
            <a:r>
              <a:t>▸ learning：事务 outbox 策略更新 + 延迟外部信用 + 任务家族隔离</a:t>
            </a:r>
          </a:p>
          <a:p>
            <a:pPr>
              <a:spcAft>
                <a:spcPts val="800"/>
              </a:spcAft>
              <a:defRPr sz="1600"/>
            </a:pPr>
            <a:r>
              <a:t>▸ operations：版本化迁移、运行时迁移、备份恢复、保留策略、SLO</a:t>
            </a:r>
          </a:p>
          <a:p>
            <a:pPr>
              <a:spcAft>
                <a:spcPts val="800"/>
              </a:spcAft>
              <a:defRPr sz="1600"/>
            </a:pPr>
            <a:r>
              <a:t>▸ service：控制面 API + Principal 认证 + 每主体令牌桶限流 + TLS/mTLS + 指标</a:t>
            </a:r>
          </a:p>
          <a:p>
            <a:pPr>
              <a:spcAft>
                <a:spcPts val="800"/>
              </a:spcAft>
              <a:defRPr sz="1400"/>
            </a:pPr>
            <a:r>
              <a:t>· release gate：文件白名单 + SBOM + 密钥扫描 + SHA256SUMS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八、工程架构②：fail-closed 的模型传输层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C0392B"/>
                </a:solidFill>
              </a:defRPr>
            </a:pPr>
            <a:r>
              <a:t>▸ ★ 传输协议同构：complete(operation_id, system, user, response_schema)——六方法与两条路由零改动互换</a:t>
            </a:r>
          </a:p>
          <a:p>
            <a:pPr>
              <a:spcAft>
                <a:spcPts val="800"/>
              </a:spcAft>
              <a:defRPr sz="1400"/>
            </a:pPr>
            <a:r>
              <a:t>· ClaudeCode 传输（CLI 会话凭据）与 OpenCode 传输（本地 server 代理 API key）</a:t>
            </a:r>
          </a:p>
          <a:p>
            <a:pPr>
              <a:spcAft>
                <a:spcPts val="800"/>
              </a:spcAft>
              <a:defRPr sz="1600"/>
            </a:pPr>
            <a:r>
              <a:t>▸ 不确定付费调用语义：请求发出后状态不明 = PENDING，永不自动重试，须操作员对账</a:t>
            </a:r>
          </a:p>
          <a:p>
            <a:pPr>
              <a:spcAft>
                <a:spcPts val="800"/>
              </a:spcAft>
              <a:defRPr sz="1400"/>
            </a:pPr>
            <a:r>
              <a:t>· 持久化熔断器：半开探测租约 + 冷却期，防模型故障拖垮整轮 run</a:t>
            </a:r>
          </a:p>
          <a:p>
            <a:pPr>
              <a:spcAft>
                <a:spcPts val="800"/>
              </a:spcAft>
              <a:defRPr sz="1600" b="1">
                <a:solidFill>
                  <a:srgbClr val="C0392B"/>
                </a:solidFill>
              </a:defRPr>
            </a:pPr>
            <a:r>
              <a:t>▸ ★ 实证：同一套科学代码，Windows/Claude Code(Opus5) 与 Linux/opencode(GLM-5.3-Flash) 双平台双模型跑通</a:t>
            </a:r>
          </a:p>
          <a:p>
            <a:pPr>
              <a:spcAft>
                <a:spcPts val="800"/>
              </a:spcAft>
              <a:defRPr sz="1600"/>
            </a:pPr>
            <a:r>
              <a:t>▸ 统一检索快照（内容寻址缓存 + 文件锁）：六方法相同查询相同证据，公平性由构造保证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九、工程架构③：质量是被测试和 CI 强制的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/>
            </a:pPr>
            <a:r>
              <a:t>▸ 439 项测试 / 5,627 行测试代码 / 43 个测试文件，全离线可跑</a:t>
            </a:r>
          </a:p>
          <a:p>
            <a:pPr>
              <a:spcAft>
                <a:spcPts val="800"/>
              </a:spcAft>
              <a:defRPr sz="1600"/>
            </a:pPr>
            <a:r>
              <a:t>▸ CI：Ubuntu × Windows × macOS × Python 3.11–3.13，跨平台字节一致校验失败即红</a:t>
            </a:r>
          </a:p>
          <a:p>
            <a:pPr>
              <a:spcAft>
                <a:spcPts val="800"/>
              </a:spcAft>
              <a:defRPr sz="1400"/>
            </a:pPr>
            <a:r>
              <a:t>· 路径长度限制：CI 先证明 260 字符限制真实存在，再验证代码处理它——不许测试假通过</a:t>
            </a:r>
          </a:p>
          <a:p>
            <a:pPr>
              <a:spcAft>
                <a:spcPts val="800"/>
              </a:spcAft>
              <a:defRPr sz="1400"/>
            </a:pPr>
            <a:r>
              <a:t>· 依赖面测试：平台原语只准出现在 portability 层——架构纪律由测试执行</a:t>
            </a:r>
          </a:p>
          <a:p>
            <a:pPr>
              <a:spcAft>
                <a:spcPts val="800"/>
              </a:spcAft>
              <a:defRPr sz="1400"/>
            </a:pPr>
            <a:r>
              <a:t>· 可移植层：advisory lock（fcntl/LockFileEx）、持久化重命名、\\?\ 长路径、目录 fsync 屏障</a:t>
            </a:r>
          </a:p>
          <a:p>
            <a:pPr>
              <a:spcAft>
                <a:spcPts val="800"/>
              </a:spcAft>
              <a:defRPr sz="1600"/>
            </a:pPr>
            <a:r>
              <a:t>▸ 本次复赛全程由 opencode Agent 驱动，10,063 个 session 轨迹随包提交（构筑/运行分目录）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十、复现：Linux + opencode 一等公民路径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C0392B"/>
                </a:solidFill>
              </a:defRPr>
            </a:pPr>
            <a:r>
              <a:t>▸ ★ 推荐环境：Linux + opencode serve（127.0.0.1:4124，HOME 隔离最小配置，工具禁用 benchmark agent）+ 智谱 coding plan</a:t>
            </a:r>
          </a:p>
          <a:p>
            <a:pPr>
              <a:spcAft>
                <a:spcPts val="800"/>
              </a:spcAft>
              <a:defRPr sz="1700"/>
            </a:pPr>
            <a:r>
              <a:t>▸ bash scripts/smoke_test.sh —— 离线无 key，1 分钟验证安装与核心算法</a:t>
            </a:r>
          </a:p>
          <a:p>
            <a:pPr>
              <a:spcAft>
                <a:spcPts val="800"/>
              </a:spcAft>
              <a:defRPr sz="1700"/>
            </a:pPr>
            <a:r>
              <a:t>▸ bash scripts/reproduce_core.sh —— 幂等重建：已完成调用走缓存回放，零重复计费</a:t>
            </a:r>
          </a:p>
          <a:p>
            <a:pPr>
              <a:spcAft>
                <a:spcPts val="800"/>
              </a:spcAft>
              <a:defRPr sz="1700"/>
            </a:pPr>
            <a:r>
              <a:t>▸ 逐级核验一条主张：claims.jsonl → relations.jsonl → corpus_snapshot.json（SHA-256）</a:t>
            </a:r>
          </a:p>
          <a:p>
            <a:pPr>
              <a:spcAft>
                <a:spcPts val="800"/>
              </a:spcAft>
              <a:defRPr sz="1700"/>
            </a:pPr>
            <a:r>
              <a:t>▸ Prompt 逐字披露 docs/PROMPTS.md（8 类调用）；Agent 轨迹 submission/agent_traces/</a:t>
            </a:r>
          </a:p>
          <a:p>
            <a:pPr>
              <a:spcAft>
                <a:spcPts val="800"/>
              </a:spcAft>
              <a:defRPr sz="1700"/>
            </a:pPr>
            <a:r>
              <a:t>▸ README 含环境/数据/模型端点/采样参数/种子/算力成本/单测的完整说明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十一、局限（如实）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/>
            </a:pPr>
            <a:r>
              <a:t>▸ oracle 由模型裁定：有逐字引文门约束 + 裁定全文明细公开，可独立抽查，但非专家金标</a:t>
            </a:r>
          </a:p>
          <a:p>
            <a:pPr>
              <a:spcAft>
                <a:spcPts val="800"/>
              </a:spcAft>
              <a:defRPr sz="1700"/>
            </a:pPr>
            <a:r>
              <a:t>▸ 46% 主张验证窗未表态（unresolved）：压低所有方法的绝对上限，配对统计不受影响</a:t>
            </a:r>
          </a:p>
          <a:p>
            <a:pPr>
              <a:spcAft>
                <a:spcPts val="800"/>
              </a:spcAft>
              <a:defRPr sz="1700"/>
            </a:pPr>
            <a:r>
              <a:t>▸ MCTS/DB 的零边际贡献不能外推到更大规模与多片段全局性主张——已列入后续预注册</a:t>
            </a:r>
          </a:p>
          <a:p>
            <a:pPr>
              <a:spcAft>
                <a:spcPts val="800"/>
              </a:spcAft>
              <a:defRPr sz="1700"/>
            </a:pPr>
            <a:r>
              <a:t>▸ 校准（Brier≈0.48）是下一个迭代点：当前置信为启发式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十二、总结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C0392B"/>
                </a:solidFill>
              </a:defRPr>
            </a:pPr>
            <a:r>
              <a:t>▸ ★ 交付的不是"一个能跑的 demo"，而是文献发现智能体的可信执行底座：</a:t>
            </a:r>
          </a:p>
          <a:p>
            <a:pPr>
              <a:spcAft>
                <a:spcPts val="800"/>
              </a:spcAft>
              <a:defRPr sz="1600"/>
            </a:pPr>
            <a:r>
              <a:t>· 证据账本 · 状态机裁决 · 反证搜索 · 时间窗预言机 · 发现包 · 预算强制 · 全链审计</a:t>
            </a:r>
          </a:p>
          <a:p>
            <a:pPr>
              <a:spcAft>
                <a:spcPts val="800"/>
              </a:spcAft>
              <a:defRPr sz="1800" b="1">
                <a:solidFill>
                  <a:srgbClr val="C0392B"/>
                </a:solidFill>
              </a:defRPr>
            </a:pPr>
            <a:r>
              <a:t>▸ ★ 主结论两轮复现：没有确定性裁决，反证只是摆设（V1=V0）；有了它 +0.32（p=0.0003）</a:t>
            </a:r>
          </a:p>
          <a:p>
            <a:pPr>
              <a:spcAft>
                <a:spcPts val="800"/>
              </a:spcAft>
              <a:defRPr sz="1800" b="1">
                <a:solidFill>
                  <a:srgbClr val="C0392B"/>
                </a:solidFill>
              </a:defRPr>
            </a:pPr>
            <a:r>
              <a:t>▸ ★ 每一个数字：代码版本 → 预注册 → 检索快照 → 操作台账 → 预测文件 → summary，逐级哈希可查</a:t>
            </a:r>
          </a:p>
          <a:p>
            <a:pPr>
              <a:spcAft>
                <a:spcPts val="800"/>
              </a:spcAft>
              <a:defRPr sz="1800"/>
            </a:pPr>
            <a:r>
              <a:t>▸ github.com/taiwanhuachenyu/VeriMat ｜ MIT ｜ tag semifinal-v2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